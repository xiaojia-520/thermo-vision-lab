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.xml" ContentType="application/vnd.openxmlformats-officedocument.presentationml.notesSlide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3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4.xml" ContentType="application/vnd.openxmlformats-officedocument.presentationml.notesSlide+xml"/>
  <Override PartName="/ppt/tags/tag9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4" userDrawn="1">
          <p15:clr>
            <a:srgbClr val="747775"/>
          </p15:clr>
        </p15:guide>
        <p15:guide id="2" pos="287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68D"/>
    <a:srgbClr val="45A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562" y="67"/>
      </p:cViewPr>
      <p:guideLst>
        <p:guide orient="horz" pos="1564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尊敬的各位评委老师，大家好！我是答辩人陈天树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李一晨。今天为大家介绍我们团队的参赛作品 ——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宽吻温域超高分辨率三维红外成像测试装置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，核心聚焦相变材料研究中的实验设备痛点，打造了一套集观测、控温、操作于一体的综合解决方案。我将从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个方面进行介绍。【切到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ppt2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分别是 研究背景与意义 作品设计方案 预计应用前景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创新特色和发展方向与进展。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首先，我们来看研发背景与意义【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本页主要介绍研发背景与意义。首先，从国家战略层面来看，高效节能与绿色发展是当前的重要需求，相变材料作为一种高效的热管理材料，在这一领域具有巨大的应用潜力。</a:t>
            </a:r>
          </a:p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目前国内外学者都在着力开发中低温相变材料，但相关研究大多停留在</a:t>
            </a:r>
            <a:r>
              <a:rPr lang="zh-CN" altLang="zh-CN" sz="1400" b="1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宏观实验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层面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缺乏对微观尺度相变动态过程的精准捕捉，这直接制约了相变机理的深入研究。而传统的测试装置还存在诸多不足：单一角度拍摄无法实现全方位观测，零散设备交叉使用极易破坏恒温恒湿环境，调整样品必须开箱导致实验可重复性差，样品区保温不足还会进一步放大实验结果总体误差。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】：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下面来说项目核心价值，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</a:t>
            </a:r>
            <a:r>
              <a:rPr lang="zh-CN" altLang="zh-CN" sz="1400" dirty="0">
                <a:latin typeface="宋体" panose="02010600030101010101" pitchFamily="2" charset="-122"/>
                <a:ea typeface="+mn-ea"/>
              </a:rPr>
              <a:t>宽温域、超高分辨率、三维的红外成像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突破观测与调控的行业瓶颈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400" dirty="0">
                <a:latin typeface="宋体" panose="02010600030101010101" pitchFamily="2" charset="-122"/>
                <a:ea typeface="+mn-ea"/>
              </a:rPr>
              <a:t>观测</a:t>
            </a:r>
            <a:r>
              <a:rPr lang="zh-CN" altLang="zh-CN" sz="1400" dirty="0">
                <a:latin typeface="宋体" panose="02010600030101010101" pitchFamily="2" charset="-122"/>
                <a:ea typeface="+mn-ea"/>
              </a:rPr>
              <a:t>微液滴气液界面</a:t>
            </a:r>
            <a:r>
              <a:rPr lang="zh-CN" altLang="en-US" sz="1400" dirty="0">
                <a:latin typeface="宋体" panose="02010600030101010101" pitchFamily="2" charset="-122"/>
                <a:ea typeface="+mn-ea"/>
              </a:rPr>
              <a:t>，</a:t>
            </a:r>
            <a:r>
              <a:rPr lang="en-US" altLang="zh-CN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+mn-ea"/>
                <a:cs typeface="Noto Sans SC" panose="020B0200000000000000" charset="-122"/>
                <a:sym typeface="Noto Sans SC" panose="020B0200000000000000" charset="-122"/>
              </a:rPr>
              <a:t>为蓄冷材料研发、空调蓄冷技术优化搭建平台</a:t>
            </a:r>
            <a:r>
              <a:rPr lang="zh-CN" altLang="en-US" sz="1400" b="0" i="0" u="none" strike="noStrike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宋体" panose="02010600030101010101" pitchFamily="2" charset="-122"/>
                <a:ea typeface="+mn-ea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zh-CN" altLang="zh-CN" sz="1400" dirty="0">
                <a:latin typeface="宋体" panose="02010600030101010101" pitchFamily="2" charset="-122"/>
                <a:ea typeface="+mn-ea"/>
              </a:rPr>
              <a:t>面向高校、航空航天院所、风电及储能企业研发中心</a:t>
            </a:r>
            <a:r>
              <a:rPr lang="zh-CN" altLang="en-US" sz="1400" dirty="0">
                <a:latin typeface="宋体" panose="02010600030101010101" pitchFamily="2" charset="-122"/>
                <a:ea typeface="+mn-ea"/>
              </a:rPr>
              <a:t>都有很大应用价值。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针对行业痛点，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我们秉持一体化设计理念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，将成像观测、舱体环境控制、实验台处理三大核心模块有机整合，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左侧展示的是系统整体结构示意图，直观呈现了各模块的连接关系与空间布局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系统箱体采用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上下分区布局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，下方集中放置控制与处理模块，上方为实验测试舱体并集成成像观测模块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的实验区域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，既能实现设备的集中管理，又能完成三轴采集和全方位成像，让系统兼具专业性与实用性。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一体化设计理念实现了流体输送、角度调节与数据采集的统一控制，提升了装置的稳定性和操作便捷性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装置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三大核心模块各有专属亮点，首先是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成像观测模块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本页重点介绍核心模块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成像观测模块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该模块的核心优势在于实现了“三轴协同观测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”，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altLang="zh-CN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在XYZ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动态微观成像系统</a:t>
            </a:r>
            <a:r>
              <a:rPr lang="en-US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对样品进行全过程观测，借助遥感技术还原测试过程的完整温度场图像。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同时，模块具备极高的“灵活性”，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通过灵活的调节机构和高精度的位置组件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观测设备可根据具体测试需求进行替换或升级优化，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能够适应不同实验场景下的观测需求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其次是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舱体环境控制模块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本页重点介绍舱体环境控制模块的两个核心组成部分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左侧示意图展示了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华文中宋" panose="02010600040101010101" charset="-122"/>
              </a:rPr>
              <a:t>舱体环境控制模块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的整体布局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模块从根源上解决了传统设备温度波动大的痛点。它包含空气处理和空气循环两大子模块：空气处理模块对循环空气完成制冷、加热、过滤、除湿、加湿的全流程处理，确保舱内空气参数精准可控；【空气循环模块通过优化气流路径，搭配狭缝式送风口和圆孔均流板，让实验区域形成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均匀稳定的流场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，彻底消除气流死角与温度偏差，最终打造恒温恒湿、气流均匀的稳定实验环境。最后是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实验台处理模块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，【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本页重点介绍实验台处理模块的核心功能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右侧的示意图展示了实验台的具体结构布局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核心亮点在于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高精度控温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无接触实验设计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。模块外接低温恒温水浴槽，结合热电偶实时监测形成闭环控制，能确保样品温度的稳定精准；同时配备手套操作口和保温玻璃视窗，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无需开箱即可调整样品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，从根本上避免了实验环境的破坏，大幅提升实验可重复性。此外，模块内置缓冲底座有效减小震动干扰，进一步保障了实验操作的精准度。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本页重点介绍集成控制模块的核心工作流程。集成控制模块作为整个系统的核心中枢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测试环境要求严苛，协同调控可减少干扰增加实验准确性，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主要通过三个子模块的协同工作来实现功能：首先是参数初始化阶段，完成系统的基础配置；随后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进行测试系统调位，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接着数据采集模块实时监测并传输传感数据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，系统可根据测试变化随时调整，最终完成完整成像，后续进一步突进智能化分析功能，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形成完整的闭环控制，确保系统稳定运行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目前相关软著正处于准备阶段。同时我们还做了产品拓展性构思，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10】</a:t>
            </a:r>
            <a:endParaRPr lang="zh-CN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本页重点介绍产品的拓展性构思，主要包含两个核心方向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首先是气压调控观测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读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通过引入气压调控手段，能够模拟更多样化的实验工况，为研究提供更丰富的数据支撑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其次是“CT式”螺旋扫描观测，借鉴CT扫描的原理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读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再来说说装置的创新特色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11】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本页重点介绍装置的创新特色，主要体现在三个方面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一是搭载超分辨率红外成像仪，实现微观尺度的精准热场捕捉；二是具备宽温湿度域调控能力，可适配多样实验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环境需求；三是高度集成化设计，将多模块有机整合，协同调控减少实验干扰，大幅提升测试准确性。</a:t>
            </a:r>
            <a:b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基于以上设计与创新，本装置的应用前景十分广阔，覆盖科研、工业、民用、军用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等很多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领域。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切到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12】</a:t>
            </a:r>
            <a:endParaRPr lang="zh-CN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457200" algn="l">
              <a:lnSpc>
                <a:spcPct val="117000"/>
              </a:lnSpc>
              <a:buSzTx/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首先在科研领域，该装置能够为</a:t>
            </a:r>
            <a:r>
              <a:rPr lang="en-US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高校、科研院所的相变材料研发、制冷技术优化及热质交换机理研究。填补蓄冷材料过冷结晶测试技术空白，推动蓄冷技术升级。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也可为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液膜流动特性、气液传质机理等基础研究提供精准的实验数据支持，深化我们对降膜流动的科学认知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在工业领域，其应用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也能得到体现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简要说说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内容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【ppt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切到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13】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民用领域，该技术可广泛应用于化工制药、环保工程、能源动力及食品加工等行业。通过优化传质和换热过程，能够显著提升生产效率、降低能耗，并提高产品纯度或污染物去除效果，具有巨大的经济和社会效益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军用领域，该技术的应用同样关键。例如在舰艇冷却系统中，高效的散热能力能保障舰载设备长时间稳定运行；在国防化工和航空航天领域，该技术可用于高纯度材料制备及推进系统的热管理，对于提升装备性能、突破技术瓶颈具有重要的战略意义。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【PPT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切到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14】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最后介绍本作品的发展方向与进展。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读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，还有未来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智能化水平的提升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、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数据处理功能的升级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也是我们的方向，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通过改进设计，提升实验装置的稳定性和适用性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按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内容讲讲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感谢各位老师的聆听，以上就是我的汇报内容。恳请各位老师批评指正，提出宝贵的意见和建议。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3.png"/><Relationship Id="rId18" Type="http://schemas.openxmlformats.org/officeDocument/2006/relationships/image" Target="../media/image10.svg"/><Relationship Id="rId3" Type="http://schemas.openxmlformats.org/officeDocument/2006/relationships/tags" Target="../tags/tag5.xml"/><Relationship Id="rId21" Type="http://schemas.openxmlformats.org/officeDocument/2006/relationships/image" Target="../media/image13.png"/><Relationship Id="rId7" Type="http://schemas.openxmlformats.org/officeDocument/2006/relationships/tags" Target="../tags/tag9.xml"/><Relationship Id="rId12" Type="http://schemas.openxmlformats.org/officeDocument/2006/relationships/image" Target="../media/image5.png"/><Relationship Id="rId17" Type="http://schemas.openxmlformats.org/officeDocument/2006/relationships/image" Target="../media/image9.png"/><Relationship Id="rId2" Type="http://schemas.openxmlformats.org/officeDocument/2006/relationships/tags" Target="../tags/tag4.xml"/><Relationship Id="rId16" Type="http://schemas.openxmlformats.org/officeDocument/2006/relationships/image" Target="../media/image8.svg"/><Relationship Id="rId20" Type="http://schemas.openxmlformats.org/officeDocument/2006/relationships/image" Target="../media/image12.sv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11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6.png"/><Relationship Id="rId22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image" Target="../media/image15.jpe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3.png"/><Relationship Id="rId2" Type="http://schemas.openxmlformats.org/officeDocument/2006/relationships/tags" Target="../tags/tag13.xml"/><Relationship Id="rId16" Type="http://schemas.openxmlformats.org/officeDocument/2006/relationships/image" Target="../media/image5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image" Target="../media/image3.png"/><Relationship Id="rId18" Type="http://schemas.openxmlformats.org/officeDocument/2006/relationships/image" Target="../media/image20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5.png"/><Relationship Id="rId17" Type="http://schemas.openxmlformats.org/officeDocument/2006/relationships/image" Target="../media/image19.png"/><Relationship Id="rId2" Type="http://schemas.openxmlformats.org/officeDocument/2006/relationships/tags" Target="../tags/tag26.xml"/><Relationship Id="rId16" Type="http://schemas.openxmlformats.org/officeDocument/2006/relationships/image" Target="../media/image18.sv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29.xml"/><Relationship Id="rId15" Type="http://schemas.openxmlformats.org/officeDocument/2006/relationships/image" Target="../media/image17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1.sv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4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3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image" Target="../media/image5.png"/><Relationship Id="rId2" Type="http://schemas.openxmlformats.org/officeDocument/2006/relationships/tags" Target="../tags/tag36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27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44.xml"/><Relationship Id="rId19" Type="http://schemas.openxmlformats.org/officeDocument/2006/relationships/image" Target="../media/image26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Relationship Id="rId6" Type="http://schemas.openxmlformats.org/officeDocument/2006/relationships/image" Target="../media/image28.jpe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12" Type="http://schemas.openxmlformats.org/officeDocument/2006/relationships/image" Target="../media/image32.sv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3.png"/><Relationship Id="rId11" Type="http://schemas.openxmlformats.org/officeDocument/2006/relationships/image" Target="../media/image31.png"/><Relationship Id="rId5" Type="http://schemas.openxmlformats.org/officeDocument/2006/relationships/image" Target="../media/image5.png"/><Relationship Id="rId10" Type="http://schemas.openxmlformats.org/officeDocument/2006/relationships/image" Target="../media/image30.sv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4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33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3.png"/><Relationship Id="rId5" Type="http://schemas.openxmlformats.org/officeDocument/2006/relationships/tags" Target="../tags/tag56.xml"/><Relationship Id="rId10" Type="http://schemas.openxmlformats.org/officeDocument/2006/relationships/image" Target="../media/image5.png"/><Relationship Id="rId4" Type="http://schemas.openxmlformats.org/officeDocument/2006/relationships/tags" Target="../tags/tag55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35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3.png"/><Relationship Id="rId5" Type="http://schemas.openxmlformats.org/officeDocument/2006/relationships/tags" Target="../tags/tag63.xml"/><Relationship Id="rId10" Type="http://schemas.openxmlformats.org/officeDocument/2006/relationships/image" Target="../media/image5.png"/><Relationship Id="rId4" Type="http://schemas.openxmlformats.org/officeDocument/2006/relationships/tags" Target="../tags/tag6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3.pn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image" Target="../media/image5.png"/><Relationship Id="rId17" Type="http://schemas.openxmlformats.org/officeDocument/2006/relationships/image" Target="../media/image37.svg"/><Relationship Id="rId2" Type="http://schemas.openxmlformats.org/officeDocument/2006/relationships/tags" Target="../tags/tag67.xml"/><Relationship Id="rId16" Type="http://schemas.openxmlformats.org/officeDocument/2006/relationships/image" Target="../media/image36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70.xml"/><Relationship Id="rId15" Type="http://schemas.openxmlformats.org/officeDocument/2006/relationships/image" Target="../media/image32.sv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image" Target="../media/image3.pn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5.png"/><Relationship Id="rId17" Type="http://schemas.openxmlformats.org/officeDocument/2006/relationships/image" Target="../media/image41.svg"/><Relationship Id="rId2" Type="http://schemas.openxmlformats.org/officeDocument/2006/relationships/tags" Target="../tags/tag76.xml"/><Relationship Id="rId16" Type="http://schemas.openxmlformats.org/officeDocument/2006/relationships/image" Target="../media/image40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79.xml"/><Relationship Id="rId15" Type="http://schemas.openxmlformats.org/officeDocument/2006/relationships/image" Target="../media/image39.sv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5.pn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52900" y="0"/>
            <a:ext cx="3886200" cy="6858000"/>
          </a:xfrm>
          <a:prstGeom prst="roundRect">
            <a:avLst>
              <a:gd name="adj" fmla="val 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16468D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571500"/>
            <a:ext cx="10934700" cy="5727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algn="ctr" rotWithShape="0">
              <a:srgbClr val="000000">
                <a:alpha val="3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06600" y="2463800"/>
            <a:ext cx="8911336" cy="1468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r>
              <a:rPr lang="zh-CN" altLang="en-US" sz="4800" b="1" dirty="0">
                <a:solidFill>
                  <a:srgbClr val="005EA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宽温域超高分辨率三维</a:t>
            </a:r>
            <a:endParaRPr lang="en-US" altLang="zh-CN" sz="4800" b="1" dirty="0">
              <a:solidFill>
                <a:srgbClr val="005EA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algn="ctr">
              <a:defRPr/>
            </a:pPr>
            <a:r>
              <a:rPr lang="zh-CN" altLang="en-US" sz="4800" b="1" dirty="0">
                <a:solidFill>
                  <a:srgbClr val="005EA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红外成像测试装置</a:t>
            </a:r>
            <a:endParaRPr lang="en-US" sz="4800" b="1" i="0" u="none" strike="noStrike" dirty="0">
              <a:solidFill>
                <a:srgbClr val="005EA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0447" t="4225" r="13432" b="8450"/>
          <a:stretch>
            <a:fillRect/>
          </a:stretch>
        </p:blipFill>
        <p:spPr>
          <a:xfrm>
            <a:off x="4191000" y="1168400"/>
            <a:ext cx="647700" cy="787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4737100" y="1320800"/>
            <a:ext cx="32639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北京建筑大学第十八届大学生节能减排社会实践与科技竞赛</a:t>
            </a:r>
          </a:p>
          <a:p>
            <a:pPr indent="0" algn="l">
              <a:lnSpc>
                <a:spcPct val="100000"/>
              </a:lnSpc>
              <a:defRPr/>
            </a:pPr>
            <a:endParaRPr lang="zh-CN" altLang="en-US" sz="18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575" y="4038600"/>
            <a:ext cx="4019550" cy="19431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762500" y="4491355"/>
            <a:ext cx="26797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团队成员：李一晨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张瀚文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张驰</a:t>
            </a:r>
          </a:p>
          <a:p>
            <a:pPr indent="0" algn="ctr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陈天树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宋安旭</a:t>
            </a:r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r="368" b="-4159"/>
          <a:stretch>
            <a:fillRect/>
          </a:stretch>
        </p:blipFill>
        <p:spPr>
          <a:xfrm>
            <a:off x="781050" y="755015"/>
            <a:ext cx="2198370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/>
        </p:nvPicPr>
        <p:blipFill>
          <a:blip r:embed="rId4">
            <a:alphaModFix amt="50000"/>
          </a:blip>
          <a:srcRect l="53248" t="17781"/>
          <a:stretch>
            <a:fillRect/>
          </a:stretch>
        </p:blipFill>
        <p:spPr>
          <a:xfrm>
            <a:off x="0" y="0"/>
            <a:ext cx="6032500" cy="687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50455" y="2044700"/>
            <a:ext cx="4741545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60000"/>
              </a:lnSpc>
              <a:defRPr/>
            </a:pPr>
            <a:r>
              <a:rPr lang="en-US" sz="3200" b="1" i="0" u="none" strike="noStrike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01.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研发背景与意义</a:t>
            </a:r>
            <a:endParaRPr lang="en-US" sz="3200" dirty="0"/>
          </a:p>
          <a:p>
            <a:pPr indent="0" algn="l">
              <a:lnSpc>
                <a:spcPct val="160000"/>
              </a:lnSpc>
            </a:pPr>
            <a:r>
              <a:rPr lang="en-US" sz="3200" b="1" i="0" u="none" strike="noStrike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02.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作品设计方案</a:t>
            </a:r>
            <a:endParaRPr lang="en-US" sz="3200" b="1" i="0" u="none" strike="noStrike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indent="0" algn="l">
              <a:lnSpc>
                <a:spcPct val="160000"/>
              </a:lnSpc>
            </a:pPr>
            <a:r>
              <a:rPr lang="en-US" sz="3200" b="1" i="0" u="none" strike="noStrike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03.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预计应用前景</a:t>
            </a:r>
            <a:endParaRPr lang="en-US" sz="3200" b="1" i="0" u="none" strike="noStrike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04. 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创新特色</a:t>
            </a:r>
            <a:endParaRPr lang="en-US" altLang="zh-CN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05. 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发展方向与进展</a:t>
            </a:r>
            <a:endParaRPr lang="en-US" altLang="zh-CN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04800" y="2273300"/>
            <a:ext cx="5321300" cy="2311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7200" b="1" i="0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00"/>
                </a:solidFill>
                <a:effectLst>
                  <a:outerShdw blurRad="12700" dist="38100" dir="2700000" algn="tl" rotWithShape="0">
                    <a:srgbClr val="808080">
                      <a:alpha val="100000"/>
                    </a:srgbClr>
                  </a:outerShdw>
                </a:effectLst>
                <a:latin typeface="Kaiti SC"/>
                <a:ea typeface="Kaiti SC"/>
                <a:cs typeface="Kaiti SC"/>
                <a:sym typeface="Kaiti SC"/>
              </a:rPr>
              <a:t>目录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7200" b="1" i="0" u="none" strike="noStrike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00"/>
                </a:solidFill>
                <a:effectLst>
                  <a:outerShdw blurRad="12700" dist="38100" dir="2700000" algn="tl" rotWithShape="0">
                    <a:srgbClr val="808080">
                      <a:alpha val="100000"/>
                    </a:srgbClr>
                  </a:outerShdw>
                </a:effectLst>
                <a:latin typeface="Kaiti SC"/>
                <a:ea typeface="Kaiti SC"/>
                <a:cs typeface="Kaiti SC"/>
                <a:sym typeface="Kaiti SC"/>
              </a:rPr>
              <a:t>CONTENTS</a:t>
            </a:r>
          </a:p>
        </p:txBody>
      </p:sp>
      <p:sp>
        <p:nvSpPr>
          <p:cNvPr id="8" name="AutoShape 4"/>
          <p:cNvSpPr/>
          <p:nvPr/>
        </p:nvSpPr>
        <p:spPr>
          <a:xfrm>
            <a:off x="6299200" y="2273300"/>
            <a:ext cx="1041400" cy="584200"/>
          </a:xfrm>
          <a:prstGeom prst="homePlat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5"/>
          <p:cNvSpPr/>
          <p:nvPr/>
        </p:nvSpPr>
        <p:spPr>
          <a:xfrm>
            <a:off x="6311900" y="2273300"/>
            <a:ext cx="749300" cy="584200"/>
          </a:xfrm>
          <a:prstGeom prst="rect">
            <a:avLst/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01</a:t>
            </a:r>
            <a:endParaRPr lang="en-US" sz="1100"/>
          </a:p>
        </p:txBody>
      </p:sp>
      <p:sp>
        <p:nvSpPr>
          <p:cNvPr id="11" name="AutoShape 4"/>
          <p:cNvSpPr/>
          <p:nvPr/>
        </p:nvSpPr>
        <p:spPr>
          <a:xfrm>
            <a:off x="6311900" y="3078480"/>
            <a:ext cx="1041400" cy="584200"/>
          </a:xfrm>
          <a:prstGeom prst="homePlat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5"/>
          <p:cNvSpPr/>
          <p:nvPr/>
        </p:nvSpPr>
        <p:spPr>
          <a:xfrm>
            <a:off x="6324600" y="3078480"/>
            <a:ext cx="749300" cy="584200"/>
          </a:xfrm>
          <a:prstGeom prst="rect">
            <a:avLst/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02</a:t>
            </a:r>
            <a:endParaRPr lang="en-US" sz="1100"/>
          </a:p>
        </p:txBody>
      </p:sp>
      <p:sp>
        <p:nvSpPr>
          <p:cNvPr id="14" name="AutoShape 4"/>
          <p:cNvSpPr/>
          <p:nvPr/>
        </p:nvSpPr>
        <p:spPr>
          <a:xfrm>
            <a:off x="6311900" y="3883660"/>
            <a:ext cx="1041400" cy="584200"/>
          </a:xfrm>
          <a:prstGeom prst="homePlat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5"/>
          <p:cNvSpPr/>
          <p:nvPr/>
        </p:nvSpPr>
        <p:spPr>
          <a:xfrm>
            <a:off x="6324600" y="3883660"/>
            <a:ext cx="749300" cy="584200"/>
          </a:xfrm>
          <a:prstGeom prst="rect">
            <a:avLst/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03</a:t>
            </a:r>
            <a:endParaRPr lang="en-US" sz="1100" dirty="0"/>
          </a:p>
        </p:txBody>
      </p:sp>
      <p:sp>
        <p:nvSpPr>
          <p:cNvPr id="16" name="AutoShape 4"/>
          <p:cNvSpPr/>
          <p:nvPr/>
        </p:nvSpPr>
        <p:spPr>
          <a:xfrm>
            <a:off x="6324600" y="4688840"/>
            <a:ext cx="1041400" cy="584200"/>
          </a:xfrm>
          <a:prstGeom prst="homePlat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5"/>
          <p:cNvSpPr/>
          <p:nvPr/>
        </p:nvSpPr>
        <p:spPr>
          <a:xfrm>
            <a:off x="6337300" y="4688840"/>
            <a:ext cx="749300" cy="584200"/>
          </a:xfrm>
          <a:prstGeom prst="rect">
            <a:avLst/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04</a:t>
            </a:r>
            <a:endParaRPr lang="en-US" sz="1100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B0091775-3460-C8DC-1946-BB6E0DB75309}"/>
              </a:ext>
            </a:extLst>
          </p:cNvPr>
          <p:cNvSpPr/>
          <p:nvPr/>
        </p:nvSpPr>
        <p:spPr>
          <a:xfrm>
            <a:off x="6337300" y="5445759"/>
            <a:ext cx="1041400" cy="584200"/>
          </a:xfrm>
          <a:prstGeom prst="homePlat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97E065D-6EA7-C6E7-B027-D4B45BE4F84D}"/>
              </a:ext>
            </a:extLst>
          </p:cNvPr>
          <p:cNvSpPr/>
          <p:nvPr/>
        </p:nvSpPr>
        <p:spPr>
          <a:xfrm>
            <a:off x="6350000" y="5445759"/>
            <a:ext cx="749300" cy="584200"/>
          </a:xfrm>
          <a:prstGeom prst="rect">
            <a:avLst/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31427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rcRect t="27106" b="27106"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355600" y="139700"/>
            <a:ext cx="520573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研发背景与意义</a:t>
            </a:r>
            <a:endParaRPr lang="en-US" sz="1100"/>
          </a:p>
        </p:txBody>
      </p:sp>
      <p:pic>
        <p:nvPicPr>
          <p:cNvPr id="17" name="图片 16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69899" y="561295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传统实验设备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相对固定</a:t>
            </a:r>
            <a:r>
              <a:rPr lang="en-US" altLang="zh-CN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难以精细化操作</a:t>
            </a:r>
          </a:p>
        </p:txBody>
      </p:sp>
      <p:pic>
        <p:nvPicPr>
          <p:cNvPr id="1073743875" name="图片 1073743874"/>
          <p:cNvPicPr>
            <a:picLocks noRot="1"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223" y="1248509"/>
            <a:ext cx="5137353" cy="441606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AutoShape 5"/>
          <p:cNvSpPr/>
          <p:nvPr/>
        </p:nvSpPr>
        <p:spPr>
          <a:xfrm>
            <a:off x="5680075" y="150622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传统测试装置的痛点</a:t>
            </a:r>
          </a:p>
        </p:txBody>
      </p:sp>
      <p:pic>
        <p:nvPicPr>
          <p:cNvPr id="22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80075" y="2023110"/>
            <a:ext cx="304800" cy="304800"/>
          </a:xfrm>
          <a:prstGeom prst="rect">
            <a:avLst/>
          </a:prstGeom>
        </p:spPr>
      </p:pic>
      <p:sp>
        <p:nvSpPr>
          <p:cNvPr id="23" name="AutoShape 7"/>
          <p:cNvSpPr/>
          <p:nvPr>
            <p:custDataLst>
              <p:tags r:id="rId3"/>
            </p:custDataLst>
          </p:nvPr>
        </p:nvSpPr>
        <p:spPr>
          <a:xfrm>
            <a:off x="6061075" y="195072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单一角度拍摄：</a:t>
            </a:r>
            <a:r>
              <a:rPr lang="en-US" sz="14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无法完成全方位观测与微观热场测量，难以深入剖析相变机理。</a:t>
            </a:r>
          </a:p>
        </p:txBody>
      </p:sp>
      <p:pic>
        <p:nvPicPr>
          <p:cNvPr id="24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80075" y="2594610"/>
            <a:ext cx="304800" cy="304800"/>
          </a:xfrm>
          <a:prstGeom prst="rect">
            <a:avLst/>
          </a:prstGeom>
        </p:spPr>
      </p:pic>
      <p:sp>
        <p:nvSpPr>
          <p:cNvPr id="25" name="AutoShape 9"/>
          <p:cNvSpPr/>
          <p:nvPr>
            <p:custDataLst>
              <p:tags r:id="rId5"/>
            </p:custDataLst>
          </p:nvPr>
        </p:nvSpPr>
        <p:spPr>
          <a:xfrm>
            <a:off x="6061075" y="258572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零散设备交叉使用：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极易破坏恒温恒湿环境，导致温度滞后与偏差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26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80075" y="3166110"/>
            <a:ext cx="304800" cy="304800"/>
          </a:xfrm>
          <a:prstGeom prst="rect">
            <a:avLst/>
          </a:prstGeom>
        </p:spPr>
      </p:pic>
      <p:sp>
        <p:nvSpPr>
          <p:cNvPr id="27" name="AutoShape 11"/>
          <p:cNvSpPr/>
          <p:nvPr>
            <p:custDataLst>
              <p:tags r:id="rId7"/>
            </p:custDataLst>
          </p:nvPr>
        </p:nvSpPr>
        <p:spPr>
          <a:xfrm>
            <a:off x="6061075" y="309372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环境破坏：</a:t>
            </a:r>
            <a:r>
              <a:rPr lang="en-US" sz="14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调整样品必须打开箱门，破坏内部环境，实验可重复性差。</a:t>
            </a:r>
          </a:p>
        </p:txBody>
      </p:sp>
      <p:pic>
        <p:nvPicPr>
          <p:cNvPr id="28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80075" y="3737610"/>
            <a:ext cx="304800" cy="304800"/>
          </a:xfrm>
          <a:prstGeom prst="rect">
            <a:avLst/>
          </a:prstGeom>
        </p:spPr>
      </p:pic>
      <p:sp>
        <p:nvSpPr>
          <p:cNvPr id="29" name="AutoShape 13"/>
          <p:cNvSpPr/>
          <p:nvPr>
            <p:custDataLst>
              <p:tags r:id="rId9"/>
            </p:custDataLst>
          </p:nvPr>
        </p:nvSpPr>
        <p:spPr>
          <a:xfrm>
            <a:off x="6061075" y="366522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样品区保温不足：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缺少有效保温与实时控温设计，放大实验结果偏差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30" name="AutoShape 14"/>
          <p:cNvSpPr/>
          <p:nvPr/>
        </p:nvSpPr>
        <p:spPr>
          <a:xfrm>
            <a:off x="5680075" y="442722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相变材料研究现状</a:t>
            </a:r>
          </a:p>
        </p:txBody>
      </p:sp>
      <p:sp>
        <p:nvSpPr>
          <p:cNvPr id="31" name="AutoShape 15"/>
          <p:cNvSpPr/>
          <p:nvPr/>
        </p:nvSpPr>
        <p:spPr>
          <a:xfrm>
            <a:off x="5680075" y="494411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16"/>
          <p:cNvSpPr/>
          <p:nvPr/>
        </p:nvSpPr>
        <p:spPr>
          <a:xfrm>
            <a:off x="5807075" y="507111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F5F5F5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国内外学者着力开发中低温相变材料，但多依赖宏观实验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7800" indent="-177800" algn="l">
              <a:lnSpc>
                <a:spcPct val="125000"/>
              </a:lnSpc>
              <a:buClr>
                <a:srgbClr val="F5F5F5"/>
              </a:buClr>
              <a:buChar char="•"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缺乏对微观尺度相变动态过程的精准捕捉，制约机理探究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53086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研发背景与意义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74700" y="1117600"/>
            <a:ext cx="64262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68300" indent="-368300" algn="l">
              <a:lnSpc>
                <a:spcPts val="4500"/>
              </a:lnSpc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29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项目核心价值分析</a:t>
            </a:r>
            <a:endParaRPr lang="en-US" sz="1100"/>
          </a:p>
        </p:txBody>
      </p:sp>
      <p:pic>
        <p:nvPicPr>
          <p:cNvPr id="13" name="图片 12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4" name="AutoShape 5"/>
          <p:cNvSpPr/>
          <p:nvPr>
            <p:custDataLst>
              <p:tags r:id="rId2"/>
            </p:custDataLst>
          </p:nvPr>
        </p:nvSpPr>
        <p:spPr>
          <a:xfrm>
            <a:off x="785495" y="2181225"/>
            <a:ext cx="3302000" cy="3048000"/>
          </a:xfrm>
          <a:prstGeom prst="roundRect">
            <a:avLst>
              <a:gd name="adj" fmla="val 4166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rcRect t="20370" r="66666" b="20370"/>
          <a:stretch>
            <a:fillRect/>
          </a:stretch>
        </p:blipFill>
        <p:spPr>
          <a:xfrm>
            <a:off x="1928495" y="2435225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7"/>
          <p:cNvSpPr/>
          <p:nvPr>
            <p:custDataLst>
              <p:tags r:id="rId4"/>
            </p:custDataLst>
          </p:nvPr>
        </p:nvSpPr>
        <p:spPr>
          <a:xfrm>
            <a:off x="912495" y="35782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</a:t>
            </a:r>
          </a:p>
        </p:txBody>
      </p:sp>
      <p:sp>
        <p:nvSpPr>
          <p:cNvPr id="17" name="AutoShape 8"/>
          <p:cNvSpPr/>
          <p:nvPr>
            <p:custDataLst>
              <p:tags r:id="rId5"/>
            </p:custDataLst>
          </p:nvPr>
        </p:nvSpPr>
        <p:spPr>
          <a:xfrm>
            <a:off x="912495" y="402272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宽温域、超高分辨率、三维的红外成像</a:t>
            </a:r>
            <a:endParaRPr lang="en-US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9"/>
          <p:cNvSpPr/>
          <p:nvPr>
            <p:custDataLst>
              <p:tags r:id="rId6"/>
            </p:custDataLst>
          </p:nvPr>
        </p:nvSpPr>
        <p:spPr>
          <a:xfrm>
            <a:off x="4468495" y="2181225"/>
            <a:ext cx="3302000" cy="3048000"/>
          </a:xfrm>
          <a:prstGeom prst="roundRect">
            <a:avLst>
              <a:gd name="adj" fmla="val 4166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rcRect l="33333" t="20370" r="33333" b="20370"/>
          <a:stretch>
            <a:fillRect/>
          </a:stretch>
        </p:blipFill>
        <p:spPr>
          <a:xfrm>
            <a:off x="5611495" y="2435225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11"/>
          <p:cNvSpPr/>
          <p:nvPr>
            <p:custDataLst>
              <p:tags r:id="rId8"/>
            </p:custDataLst>
          </p:nvPr>
        </p:nvSpPr>
        <p:spPr>
          <a:xfrm>
            <a:off x="4595495" y="35782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节能价值</a:t>
            </a:r>
          </a:p>
        </p:txBody>
      </p:sp>
      <p:sp>
        <p:nvSpPr>
          <p:cNvPr id="21" name="AutoShape 12"/>
          <p:cNvSpPr/>
          <p:nvPr>
            <p:custDataLst>
              <p:tags r:id="rId9"/>
            </p:custDataLst>
          </p:nvPr>
        </p:nvSpPr>
        <p:spPr>
          <a:xfrm>
            <a:off x="4595495" y="402272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观测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微液滴气液界面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为蓄冷材料研发、空调蓄冷技术优化搭建平台</a:t>
            </a:r>
            <a:endParaRPr lang="en-US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13"/>
          <p:cNvSpPr/>
          <p:nvPr>
            <p:custDataLst>
              <p:tags r:id="rId10"/>
            </p:custDataLst>
          </p:nvPr>
        </p:nvSpPr>
        <p:spPr>
          <a:xfrm>
            <a:off x="8151495" y="2181225"/>
            <a:ext cx="3302000" cy="3048000"/>
          </a:xfrm>
          <a:prstGeom prst="roundRect">
            <a:avLst>
              <a:gd name="adj" fmla="val 4166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/>
          <a:srcRect l="66666" t="20370" b="20370"/>
          <a:stretch>
            <a:fillRect/>
          </a:stretch>
        </p:blipFill>
        <p:spPr>
          <a:xfrm>
            <a:off x="9294495" y="2435225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15"/>
          <p:cNvSpPr/>
          <p:nvPr>
            <p:custDataLst>
              <p:tags r:id="rId12"/>
            </p:custDataLst>
          </p:nvPr>
        </p:nvSpPr>
        <p:spPr>
          <a:xfrm>
            <a:off x="8278495" y="35782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</a:p>
        </p:txBody>
      </p:sp>
      <p:sp>
        <p:nvSpPr>
          <p:cNvPr id="25" name="AutoShape 16"/>
          <p:cNvSpPr/>
          <p:nvPr>
            <p:custDataLst>
              <p:tags r:id="rId13"/>
            </p:custDataLst>
          </p:nvPr>
        </p:nvSpPr>
        <p:spPr>
          <a:xfrm>
            <a:off x="8278495" y="402272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面向高校、航空航天院所、风电及储能企业研发中心</a:t>
            </a:r>
            <a:r>
              <a:rPr 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6" name="AutoShape 17"/>
          <p:cNvSpPr/>
          <p:nvPr/>
        </p:nvSpPr>
        <p:spPr>
          <a:xfrm>
            <a:off x="785495" y="586232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30226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作品设计方案</a:t>
            </a:r>
            <a:endParaRPr lang="en-US" sz="1100"/>
          </a:p>
        </p:txBody>
      </p:sp>
      <p:pic>
        <p:nvPicPr>
          <p:cNvPr id="14" name="图片 13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pic>
        <p:nvPicPr>
          <p:cNvPr id="16" name="Picture 5"/>
          <p:cNvPicPr>
            <a:picLocks noChangeAspect="1"/>
          </p:cNvPicPr>
          <p:nvPr/>
        </p:nvPicPr>
        <p:blipFill>
          <a:blip r:embed="rId14"/>
          <a:srcRect t="10" b="10"/>
          <a:stretch>
            <a:fillRect/>
          </a:stretch>
        </p:blipFill>
        <p:spPr>
          <a:xfrm>
            <a:off x="558800" y="1333499"/>
            <a:ext cx="6656850" cy="5104423"/>
          </a:xfrm>
          <a:prstGeom prst="roundRect">
            <a:avLst>
              <a:gd name="adj" fmla="val 4784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17" name="AutoShape 6"/>
          <p:cNvSpPr/>
          <p:nvPr/>
        </p:nvSpPr>
        <p:spPr>
          <a:xfrm>
            <a:off x="2236225" y="6437922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系统整体结构示意图</a:t>
            </a:r>
          </a:p>
        </p:txBody>
      </p:sp>
      <p:sp>
        <p:nvSpPr>
          <p:cNvPr id="18" name="AutoShape 7"/>
          <p:cNvSpPr/>
          <p:nvPr>
            <p:custDataLst>
              <p:tags r:id="rId2"/>
            </p:custDataLst>
          </p:nvPr>
        </p:nvSpPr>
        <p:spPr>
          <a:xfrm>
            <a:off x="7956364" y="1362935"/>
            <a:ext cx="3676836" cy="2243336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1"/>
          <p:cNvSpPr/>
          <p:nvPr>
            <p:custDataLst>
              <p:tags r:id="rId3"/>
            </p:custDataLst>
          </p:nvPr>
        </p:nvSpPr>
        <p:spPr>
          <a:xfrm>
            <a:off x="7956364" y="4247393"/>
            <a:ext cx="3676836" cy="205898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55717" y="1709034"/>
            <a:ext cx="406400" cy="406400"/>
          </a:xfrm>
          <a:prstGeom prst="rect">
            <a:avLst/>
          </a:prstGeom>
        </p:spPr>
      </p:pic>
      <p:sp>
        <p:nvSpPr>
          <p:cNvPr id="21" name="AutoShape 13"/>
          <p:cNvSpPr/>
          <p:nvPr>
            <p:custDataLst>
              <p:tags r:id="rId5"/>
            </p:custDataLst>
          </p:nvPr>
        </p:nvSpPr>
        <p:spPr>
          <a:xfrm>
            <a:off x="8663717" y="1670934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整体结构布局</a:t>
            </a:r>
          </a:p>
        </p:txBody>
      </p:sp>
      <p:sp>
        <p:nvSpPr>
          <p:cNvPr id="22" name="AutoShape 14"/>
          <p:cNvSpPr/>
          <p:nvPr>
            <p:custDataLst>
              <p:tags r:id="rId6"/>
            </p:custDataLst>
          </p:nvPr>
        </p:nvSpPr>
        <p:spPr>
          <a:xfrm>
            <a:off x="8663717" y="2090034"/>
            <a:ext cx="2849661" cy="12991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箱体采用上下分区设计。下方</a:t>
            </a: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</a:t>
            </a:r>
            <a:r>
              <a:rPr lang="en-US" sz="18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</a:t>
            </a: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进行实验环境调节处理区域，上方为测试区域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182" y="1441844"/>
            <a:ext cx="6502076" cy="4830464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55717" y="4553865"/>
            <a:ext cx="406400" cy="406400"/>
          </a:xfrm>
          <a:prstGeom prst="rect">
            <a:avLst/>
          </a:prstGeom>
        </p:spPr>
      </p:pic>
      <p:sp>
        <p:nvSpPr>
          <p:cNvPr id="34" name="AutoShape 9"/>
          <p:cNvSpPr/>
          <p:nvPr>
            <p:custDataLst>
              <p:tags r:id="rId8"/>
            </p:custDataLst>
          </p:nvPr>
        </p:nvSpPr>
        <p:spPr>
          <a:xfrm>
            <a:off x="8663717" y="4515765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一体化设计理念</a:t>
            </a:r>
          </a:p>
        </p:txBody>
      </p:sp>
      <p:sp>
        <p:nvSpPr>
          <p:cNvPr id="35" name="AutoShape 10"/>
          <p:cNvSpPr/>
          <p:nvPr>
            <p:custDataLst>
              <p:tags r:id="rId9"/>
            </p:custDataLst>
          </p:nvPr>
        </p:nvSpPr>
        <p:spPr>
          <a:xfrm>
            <a:off x="8631139" y="4805635"/>
            <a:ext cx="2849661" cy="15007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将成像观测、舱体环境控制、实验台处理三大模块有机整合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集成控制。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6223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核心模块：成像观测模块</a:t>
            </a:r>
            <a:endParaRPr lang="en-US" sz="1100"/>
          </a:p>
        </p:txBody>
      </p:sp>
      <p:pic>
        <p:nvPicPr>
          <p:cNvPr id="30" name="图片 2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31" name="AutoShape 5"/>
          <p:cNvSpPr/>
          <p:nvPr/>
        </p:nvSpPr>
        <p:spPr>
          <a:xfrm>
            <a:off x="402948" y="1803589"/>
            <a:ext cx="4053642" cy="2154527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948" y="2035947"/>
            <a:ext cx="406400" cy="406400"/>
          </a:xfrm>
          <a:prstGeom prst="rect">
            <a:avLst/>
          </a:prstGeom>
        </p:spPr>
      </p:pic>
      <p:sp>
        <p:nvSpPr>
          <p:cNvPr id="33" name="AutoShape 7"/>
          <p:cNvSpPr/>
          <p:nvPr/>
        </p:nvSpPr>
        <p:spPr>
          <a:xfrm>
            <a:off x="1037948" y="1997847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三轴协同观测</a:t>
            </a:r>
          </a:p>
        </p:txBody>
      </p:sp>
      <p:sp>
        <p:nvSpPr>
          <p:cNvPr id="34" name="AutoShape 8"/>
          <p:cNvSpPr/>
          <p:nvPr/>
        </p:nvSpPr>
        <p:spPr>
          <a:xfrm>
            <a:off x="790483" y="2382540"/>
            <a:ext cx="3278572" cy="136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8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在XYZ</a:t>
            </a: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动态微观成像系统</a:t>
            </a:r>
            <a:r>
              <a:rPr 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对样品进行全过程观测，借助遥感技术还原测试过程的完整温度场图像。</a:t>
            </a:r>
          </a:p>
        </p:txBody>
      </p:sp>
      <p:sp>
        <p:nvSpPr>
          <p:cNvPr id="35" name="AutoShape 9"/>
          <p:cNvSpPr/>
          <p:nvPr/>
        </p:nvSpPr>
        <p:spPr>
          <a:xfrm>
            <a:off x="402948" y="4201558"/>
            <a:ext cx="4053642" cy="191556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948" y="4427021"/>
            <a:ext cx="406400" cy="406400"/>
          </a:xfrm>
          <a:prstGeom prst="rect">
            <a:avLst/>
          </a:prstGeom>
        </p:spPr>
      </p:pic>
      <p:sp>
        <p:nvSpPr>
          <p:cNvPr id="37" name="AutoShape 11"/>
          <p:cNvSpPr/>
          <p:nvPr/>
        </p:nvSpPr>
        <p:spPr>
          <a:xfrm>
            <a:off x="1037948" y="4388921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灵活性</a:t>
            </a:r>
          </a:p>
        </p:txBody>
      </p:sp>
      <p:sp>
        <p:nvSpPr>
          <p:cNvPr id="38" name="AutoShape 12"/>
          <p:cNvSpPr/>
          <p:nvPr/>
        </p:nvSpPr>
        <p:spPr>
          <a:xfrm>
            <a:off x="733148" y="4769921"/>
            <a:ext cx="3278572" cy="11185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三维导轨实时定位，精度达</a:t>
            </a:r>
            <a:r>
              <a:rPr lang="en-US" altLang="zh-CN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0.02mm</a:t>
            </a: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；观测设备可根据具体测试需求进行替换或升级优化。</a:t>
            </a:r>
          </a:p>
        </p:txBody>
      </p:sp>
      <p:sp>
        <p:nvSpPr>
          <p:cNvPr id="39" name="AutoShape 17"/>
          <p:cNvSpPr/>
          <p:nvPr/>
        </p:nvSpPr>
        <p:spPr>
          <a:xfrm>
            <a:off x="88776" y="6233559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</a:t>
            </a:r>
            <a:r>
              <a:rPr lang="en-US" sz="14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FEATURES：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全方位扫描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微观热场测量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设备灵活适配</a:t>
            </a:r>
          </a:p>
        </p:txBody>
      </p:sp>
      <p:pic>
        <p:nvPicPr>
          <p:cNvPr id="40" name="Picture 5"/>
          <p:cNvPicPr>
            <a:picLocks noChangeAspect="1"/>
          </p:cNvPicPr>
          <p:nvPr/>
        </p:nvPicPr>
        <p:blipFill>
          <a:blip r:embed="rId10"/>
          <a:srcRect t="10" b="10"/>
          <a:stretch>
            <a:fillRect/>
          </a:stretch>
        </p:blipFill>
        <p:spPr>
          <a:xfrm>
            <a:off x="5152491" y="1255597"/>
            <a:ext cx="6780618" cy="5076592"/>
          </a:xfrm>
          <a:prstGeom prst="roundRect">
            <a:avLst>
              <a:gd name="adj" fmla="val 4784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41" name="文本框 40"/>
          <p:cNvSpPr txBox="1"/>
          <p:nvPr/>
        </p:nvSpPr>
        <p:spPr>
          <a:xfrm>
            <a:off x="5494655" y="6424930"/>
            <a:ext cx="6096000" cy="360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成像观测模块</a:t>
            </a:r>
            <a:r>
              <a:rPr lang="en-US" dirty="0" err="1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示意图</a:t>
            </a:r>
            <a:endParaRPr lang="en-US" altLang="en-US" dirty="0" err="1">
              <a:solidFill>
                <a:schemeClr val="tx1">
                  <a:lumMod val="95000"/>
                  <a:lumOff val="5000"/>
                  <a:alpha val="7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70485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核心模块：舱体环境控制模块</a:t>
            </a:r>
            <a:endParaRPr lang="en-US" sz="1100" dirty="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731000" y="1587500"/>
            <a:ext cx="48260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6858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华文中宋" panose="02010600040101010101" charset="-122"/>
              </a:rPr>
              <a:t>空气处理模块</a:t>
            </a: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858000" y="2095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负责对进入舱体的空气进行过滤、除湿和温度调节，确保舱内空气质量符合人体健康标准。集成了高效HEPA过滤器和高精度温湿度传感器，实现实时监测与闭环控制。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731000" y="3683000"/>
            <a:ext cx="48260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858000" y="3810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华文中宋" panose="02010600040101010101" charset="-122"/>
              </a:rPr>
              <a:t>空气循环模块</a:t>
            </a: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858000" y="4191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构建舱内空气微循环系统，通过优化风道设计，消除通风死角，保证舱内各区域温度场和速度场的均匀性。采用低噪音离心风机，在保证风量的同时降低运行噪音，提升舒适度。</a:t>
            </a:r>
            <a:endParaRPr lang="en-US" sz="1100"/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19"/>
          <a:srcRect t="50" b="50"/>
          <a:stretch>
            <a:fillRect/>
          </a:stretch>
        </p:blipFill>
        <p:spPr>
          <a:xfrm>
            <a:off x="309534" y="1304056"/>
            <a:ext cx="5773290" cy="5300930"/>
          </a:xfrm>
          <a:prstGeom prst="roundRect">
            <a:avLst>
              <a:gd name="adj" fmla="val 4950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14" name="AutoShape 8"/>
          <p:cNvSpPr/>
          <p:nvPr>
            <p:custDataLst>
              <p:tags r:id="rId8"/>
            </p:custDataLst>
          </p:nvPr>
        </p:nvSpPr>
        <p:spPr>
          <a:xfrm>
            <a:off x="7713371" y="1615514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5" name="AutoShape 9"/>
          <p:cNvSpPr/>
          <p:nvPr>
            <p:custDataLst>
              <p:tags r:id="rId9"/>
            </p:custDataLst>
          </p:nvPr>
        </p:nvSpPr>
        <p:spPr>
          <a:xfrm>
            <a:off x="7694202" y="2109217"/>
            <a:ext cx="3277184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800" dirty="0"/>
          </a:p>
        </p:txBody>
      </p:sp>
      <p:sp>
        <p:nvSpPr>
          <p:cNvPr id="18" name="AutoShape 12"/>
          <p:cNvSpPr/>
          <p:nvPr>
            <p:custDataLst>
              <p:tags r:id="rId10"/>
            </p:custDataLst>
          </p:nvPr>
        </p:nvSpPr>
        <p:spPr>
          <a:xfrm>
            <a:off x="7713371" y="3485115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9" name="AutoShape 13"/>
          <p:cNvSpPr/>
          <p:nvPr>
            <p:custDataLst>
              <p:tags r:id="rId11"/>
            </p:custDataLst>
          </p:nvPr>
        </p:nvSpPr>
        <p:spPr>
          <a:xfrm>
            <a:off x="7713371" y="3964370"/>
            <a:ext cx="2966821" cy="9313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800" dirty="0"/>
          </a:p>
        </p:txBody>
      </p:sp>
      <p:sp>
        <p:nvSpPr>
          <p:cNvPr id="20" name="AutoShape 14"/>
          <p:cNvSpPr/>
          <p:nvPr/>
        </p:nvSpPr>
        <p:spPr>
          <a:xfrm>
            <a:off x="6742760" y="5709692"/>
            <a:ext cx="6721877" cy="783688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2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15"/>
          <p:cNvSpPr/>
          <p:nvPr/>
        </p:nvSpPr>
        <p:spPr>
          <a:xfrm>
            <a:off x="7095235" y="5731380"/>
            <a:ext cx="43347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打造恒温恒湿、气流均匀的稳定实验环境，从根源上解决传统设备温度波动大的痛点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7989" y="1421095"/>
            <a:ext cx="5480476" cy="5103991"/>
          </a:xfrm>
          <a:prstGeom prst="rect">
            <a:avLst/>
          </a:prstGeom>
        </p:spPr>
      </p:pic>
      <p:sp>
        <p:nvSpPr>
          <p:cNvPr id="23" name="线形标注 1(无边框) 22"/>
          <p:cNvSpPr/>
          <p:nvPr>
            <p:custDataLst>
              <p:tags r:id="rId12"/>
            </p:custDataLst>
          </p:nvPr>
        </p:nvSpPr>
        <p:spPr>
          <a:xfrm>
            <a:off x="3933505" y="2216962"/>
            <a:ext cx="1313815" cy="528320"/>
          </a:xfrm>
          <a:prstGeom prst="callout1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出风口</a:t>
            </a:r>
          </a:p>
        </p:txBody>
      </p:sp>
      <p:sp>
        <p:nvSpPr>
          <p:cNvPr id="24" name="线形标注 1(无边框) 23"/>
          <p:cNvSpPr/>
          <p:nvPr>
            <p:custDataLst>
              <p:tags r:id="rId13"/>
            </p:custDataLst>
          </p:nvPr>
        </p:nvSpPr>
        <p:spPr>
          <a:xfrm>
            <a:off x="4012392" y="4542155"/>
            <a:ext cx="1313815" cy="528320"/>
          </a:xfrm>
          <a:prstGeom prst="callout1">
            <a:avLst>
              <a:gd name="adj1" fmla="val 18750"/>
              <a:gd name="adj2" fmla="val -8333"/>
              <a:gd name="adj3" fmla="val -52884"/>
              <a:gd name="adj4" fmla="val -429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回风口</a:t>
            </a:r>
          </a:p>
        </p:txBody>
      </p:sp>
      <p:sp>
        <p:nvSpPr>
          <p:cNvPr id="25" name="线形标注 1(无边框) 24"/>
          <p:cNvSpPr/>
          <p:nvPr>
            <p:custDataLst>
              <p:tags r:id="rId14"/>
            </p:custDataLst>
          </p:nvPr>
        </p:nvSpPr>
        <p:spPr>
          <a:xfrm>
            <a:off x="3950327" y="6076666"/>
            <a:ext cx="1313815" cy="528320"/>
          </a:xfrm>
          <a:prstGeom prst="callout1">
            <a:avLst>
              <a:gd name="adj1" fmla="val 18750"/>
              <a:gd name="adj2" fmla="val -8333"/>
              <a:gd name="adj3" fmla="val -160336"/>
              <a:gd name="adj4" fmla="val -5427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空气处理模块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6223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核心模块：实验台处理模块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5815" y="1711325"/>
            <a:ext cx="469963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● </a:t>
            </a:r>
            <a:r>
              <a:rPr lang="en-US" sz="24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华文中宋" panose="02010600040101010101" charset="-122"/>
              </a:rPr>
              <a:t>精确控温与监测：</a:t>
            </a:r>
            <a:r>
              <a:rPr lang="en-US" sz="20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外接低温恒温水浴槽，结合热电偶实时监测，形成闭环控制，确保样品温度稳定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  <a:p>
            <a:pPr indent="0" algn="l">
              <a:lnSpc>
                <a:spcPct val="100000"/>
              </a:lnSpc>
              <a:defRPr/>
            </a:pPr>
            <a:endParaRPr lang="en-US" sz="2000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5815" y="3194050"/>
            <a:ext cx="469963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lnSpc>
                <a:spcPct val="100000"/>
              </a:lnSpc>
              <a:buSzTx/>
              <a:buNone/>
              <a:defRPr/>
            </a:pPr>
            <a:r>
              <a:rPr lang="en-US" sz="2400" b="1" i="0" u="none" strike="noStrike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● </a:t>
            </a:r>
            <a:r>
              <a:rPr lang="en-US" sz="24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华文中宋" panose="02010600040101010101" charset="-122"/>
              </a:rPr>
              <a:t>无接触实验设计：</a:t>
            </a:r>
            <a:r>
              <a:rPr lang="en-US" sz="20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配备手套操作口和保温玻璃视窗，无需开箱即可调整样品，避免破坏环境，提升重复性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  <a:p>
            <a:pPr algn="l">
              <a:lnSpc>
                <a:spcPct val="100000"/>
              </a:lnSpc>
              <a:buSzTx/>
              <a:buNone/>
              <a:defRPr/>
            </a:pPr>
            <a:endParaRPr lang="zh-CN" altLang="en-US" sz="1400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5815" y="4676775"/>
            <a:ext cx="47002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2400" b="1" i="0" u="none" strike="noStrike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● </a:t>
            </a:r>
            <a:r>
              <a:rPr lang="en-US" sz="24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华文中宋" panose="02010600040101010101" charset="-122"/>
              </a:rPr>
              <a:t>辅助设计：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内置缓冲底座有效减小三维位移模组与震动干扰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0000"/>
              </a:lnSpc>
              <a:buSzTx/>
              <a:defRPr/>
            </a:pPr>
            <a:endParaRPr lang="en-US" sz="2000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5816269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实验台结构示意图（手套操作口与视窗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rcRect l="6061" t="4880" r="2548" b="10993"/>
          <a:stretch>
            <a:fillRect/>
          </a:stretch>
        </p:blipFill>
        <p:spPr>
          <a:xfrm>
            <a:off x="6327140" y="1301115"/>
            <a:ext cx="542099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55600" y="139700"/>
            <a:ext cx="6223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核心模块：集成控制模块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8175" y="3162300"/>
            <a:ext cx="32766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 err="1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数据采集实时监测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 rot="5400000">
            <a:off x="9705975" y="2743200"/>
            <a:ext cx="444500" cy="34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5400000">
            <a:off x="9693275" y="3708400"/>
            <a:ext cx="457200" cy="34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58175" y="4114800"/>
            <a:ext cx="32766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100" dirty="0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根据</a:t>
            </a:r>
            <a:r>
              <a:rPr lang="zh-CN" altLang="en-US" sz="2100" b="0" i="0" u="none" strike="noStrike" dirty="0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测试变化调整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258175" y="5080000"/>
            <a:ext cx="3276600" cy="4064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100" dirty="0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sym typeface="华文中宋" panose="02010600040101010101" charset="-122"/>
              </a:rPr>
              <a:t>完整成像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258175" y="5981700"/>
            <a:ext cx="3276600" cy="406400"/>
          </a:xfrm>
          <a:prstGeom prst="roundRect">
            <a:avLst>
              <a:gd name="adj" fmla="val 1562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100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sym typeface="华文中宋" panose="02010600040101010101" charset="-122"/>
              </a:rPr>
              <a:t>智能自动</a:t>
            </a:r>
            <a:r>
              <a:rPr lang="zh-CN" altLang="en-US" sz="2100" dirty="0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sym typeface="华文中宋" panose="02010600040101010101" charset="-122"/>
              </a:rPr>
              <a:t>分析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074275" y="4610100"/>
            <a:ext cx="23368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0099675" y="3657600"/>
            <a:ext cx="20193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0122154" y="2692400"/>
            <a:ext cx="18796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258175" y="1219200"/>
            <a:ext cx="32766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0" i="0" u="none" strike="noStrike" dirty="0" err="1">
                <a:solidFill>
                  <a:srgbClr val="0D0D0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参数初始化与配置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10137775" y="5537200"/>
            <a:ext cx="17399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258175" y="2171700"/>
            <a:ext cx="327660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测试系统调位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AutoShape 18"/>
          <p:cNvSpPr/>
          <p:nvPr/>
        </p:nvSpPr>
        <p:spPr>
          <a:xfrm rot="5400000">
            <a:off x="9667875" y="1803400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25075" y="1701800"/>
            <a:ext cx="18796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 rot="5400000">
            <a:off x="9680575" y="4660900"/>
            <a:ext cx="457200" cy="34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 rot="5400000">
            <a:off x="9680575" y="5575300"/>
            <a:ext cx="457200" cy="34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>
              <a:alpha val="100000"/>
            </a:srgbClr>
          </a:solidFill>
          <a:ln w="25400" cap="flat" cmpd="sng">
            <a:solidFill>
              <a:srgbClr val="0070C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图片 21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23" name="AutoShape 6"/>
          <p:cNvSpPr/>
          <p:nvPr/>
        </p:nvSpPr>
        <p:spPr>
          <a:xfrm>
            <a:off x="386715" y="1644319"/>
            <a:ext cx="2318551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715" y="1758619"/>
            <a:ext cx="406400" cy="406400"/>
          </a:xfrm>
          <a:prstGeom prst="rect">
            <a:avLst/>
          </a:prstGeom>
        </p:spPr>
      </p:pic>
      <p:sp>
        <p:nvSpPr>
          <p:cNvPr id="25" name="AutoShape 8"/>
          <p:cNvSpPr/>
          <p:nvPr/>
        </p:nvSpPr>
        <p:spPr>
          <a:xfrm>
            <a:off x="971550" y="175450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成像观测模块</a:t>
            </a:r>
          </a:p>
        </p:txBody>
      </p:sp>
      <p:sp>
        <p:nvSpPr>
          <p:cNvPr id="26" name="AutoShape 10"/>
          <p:cNvSpPr/>
          <p:nvPr/>
        </p:nvSpPr>
        <p:spPr>
          <a:xfrm>
            <a:off x="386715" y="2973705"/>
            <a:ext cx="2318551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655" y="3079419"/>
            <a:ext cx="406400" cy="406400"/>
          </a:xfrm>
          <a:prstGeom prst="rect">
            <a:avLst/>
          </a:prstGeom>
        </p:spPr>
      </p:pic>
      <p:sp>
        <p:nvSpPr>
          <p:cNvPr id="28" name="AutoShape 12"/>
          <p:cNvSpPr/>
          <p:nvPr/>
        </p:nvSpPr>
        <p:spPr>
          <a:xfrm>
            <a:off x="971655" y="3041319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环境控制模块</a:t>
            </a:r>
            <a:endParaRPr lang="en-US" sz="1800" b="1" dirty="0" err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14"/>
          <p:cNvSpPr/>
          <p:nvPr/>
        </p:nvSpPr>
        <p:spPr>
          <a:xfrm>
            <a:off x="355890" y="4231005"/>
            <a:ext cx="2349376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6390" y="4294505"/>
            <a:ext cx="406400" cy="406400"/>
          </a:xfrm>
          <a:prstGeom prst="rect">
            <a:avLst/>
          </a:prstGeom>
        </p:spPr>
      </p:pic>
      <p:sp>
        <p:nvSpPr>
          <p:cNvPr id="31" name="AutoShape 16"/>
          <p:cNvSpPr/>
          <p:nvPr/>
        </p:nvSpPr>
        <p:spPr>
          <a:xfrm>
            <a:off x="1041504" y="4311319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实验台处理模块</a:t>
            </a:r>
            <a:endParaRPr lang="en-US" sz="1800" b="1" dirty="0" err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AutoShape 18"/>
          <p:cNvSpPr/>
          <p:nvPr/>
        </p:nvSpPr>
        <p:spPr>
          <a:xfrm>
            <a:off x="-1179195" y="569404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三大模块相互配合、无缝衔接，在计算机统一调度下实现高精度、高可靠性的实验闭环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33" name="AutoShape 6"/>
          <p:cNvSpPr/>
          <p:nvPr/>
        </p:nvSpPr>
        <p:spPr>
          <a:xfrm>
            <a:off x="4178935" y="2159000"/>
            <a:ext cx="4015105" cy="325247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25000"/>
              </a:lnSpc>
              <a:defRPr/>
            </a:pPr>
            <a:endParaRPr lang="en-US" altLang="zh-CN" sz="1000" dirty="0"/>
          </a:p>
        </p:txBody>
      </p:sp>
      <p:sp>
        <p:nvSpPr>
          <p:cNvPr id="34" name="AutoShape 12"/>
          <p:cNvSpPr/>
          <p:nvPr/>
        </p:nvSpPr>
        <p:spPr>
          <a:xfrm>
            <a:off x="5109210" y="2479040"/>
            <a:ext cx="2155190" cy="561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  <a:r>
              <a:rPr lang="en-US" sz="1800" b="1" i="0" u="none" strike="noStrike" dirty="0" err="1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控制模块</a:t>
            </a:r>
            <a:endParaRPr lang="en-US" sz="1800" b="1" dirty="0" err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2769352" y="3928519"/>
            <a:ext cx="1322705" cy="508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2782052" y="3300399"/>
            <a:ext cx="1193165" cy="88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 flipV="1">
            <a:off x="2782052" y="1942388"/>
            <a:ext cx="1247775" cy="775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AutoShape 9"/>
          <p:cNvSpPr/>
          <p:nvPr>
            <p:custDataLst>
              <p:tags r:id="rId2"/>
            </p:custDataLst>
          </p:nvPr>
        </p:nvSpPr>
        <p:spPr>
          <a:xfrm>
            <a:off x="4596130" y="3079115"/>
            <a:ext cx="3359785" cy="2082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8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集成控制三大模块，测试环境要求严苛，协同调控可减少干扰增加实验准确性，目标可在计算机上操控测试的全过程并完成最终分析。（目前还处于软著的准备阶段）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6223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产品拓展性构思</a:t>
            </a:r>
            <a:endParaRPr lang="en-US" sz="1100"/>
          </a:p>
        </p:txBody>
      </p:sp>
      <p:pic>
        <p:nvPicPr>
          <p:cNvPr id="15" name="图片 14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6" name="AutoShape 5"/>
          <p:cNvSpPr/>
          <p:nvPr>
            <p:custDataLst>
              <p:tags r:id="rId2"/>
            </p:custDataLst>
          </p:nvPr>
        </p:nvSpPr>
        <p:spPr>
          <a:xfrm>
            <a:off x="762000" y="1523999"/>
            <a:ext cx="5080000" cy="4699001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7"/>
          <p:cNvSpPr/>
          <p:nvPr>
            <p:custDataLst>
              <p:tags r:id="rId3"/>
            </p:custDataLst>
          </p:nvPr>
        </p:nvSpPr>
        <p:spPr>
          <a:xfrm>
            <a:off x="1524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气压调控观测</a:t>
            </a:r>
          </a:p>
        </p:txBody>
      </p:sp>
      <p:sp>
        <p:nvSpPr>
          <p:cNvPr id="18" name="AutoShape 8"/>
          <p:cNvSpPr/>
          <p:nvPr>
            <p:custDataLst>
              <p:tags r:id="rId4"/>
            </p:custDataLst>
          </p:nvPr>
        </p:nvSpPr>
        <p:spPr>
          <a:xfrm>
            <a:off x="1034902" y="5305098"/>
            <a:ext cx="4572000" cy="5357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457200" algn="l">
              <a:lnSpc>
                <a:spcPct val="117000"/>
              </a:lnSpc>
              <a:buSzTx/>
              <a:defRPr/>
            </a:pP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配置泵体及蓝宝石玻璃罩，安装玻璃罩使罩内环境密封并不影响观测效果，运行泵体即可实现保温台的气压环境调控。</a:t>
            </a:r>
          </a:p>
        </p:txBody>
      </p:sp>
      <p:sp>
        <p:nvSpPr>
          <p:cNvPr id="19" name="AutoShape 9"/>
          <p:cNvSpPr/>
          <p:nvPr>
            <p:custDataLst>
              <p:tags r:id="rId5"/>
            </p:custDataLst>
          </p:nvPr>
        </p:nvSpPr>
        <p:spPr>
          <a:xfrm>
            <a:off x="6350000" y="1524000"/>
            <a:ext cx="5080000" cy="4699000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1"/>
          <p:cNvSpPr/>
          <p:nvPr>
            <p:custDataLst>
              <p:tags r:id="rId6"/>
            </p:custDataLst>
          </p:nvPr>
        </p:nvSpPr>
        <p:spPr>
          <a:xfrm>
            <a:off x="7112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altLang="zh-CN" sz="20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</a:t>
            </a:r>
            <a:r>
              <a:rPr lang="zh-CN" altLang="en-US" sz="20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式”螺旋扫描观测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7200" y="2184400"/>
            <a:ext cx="2880000" cy="30284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200" y="2198852"/>
            <a:ext cx="2880000" cy="3040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AutoShape 8"/>
          <p:cNvSpPr/>
          <p:nvPr>
            <p:custDataLst>
              <p:tags r:id="rId7"/>
            </p:custDataLst>
          </p:nvPr>
        </p:nvSpPr>
        <p:spPr>
          <a:xfrm>
            <a:off x="6585098" y="5305098"/>
            <a:ext cx="4572000" cy="5357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457200" algn="l">
              <a:lnSpc>
                <a:spcPct val="117000"/>
              </a:lnSpc>
              <a:buSzTx/>
              <a:defRPr/>
            </a:pP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配置升降滑轮及环形滑轨，通过保温台垂直移动与摄像头沿滑轨的圆周运动，实现全方位螺旋扫描，最终呈出无死角图像效果。</a:t>
            </a:r>
          </a:p>
        </p:txBody>
      </p:sp>
      <p:sp>
        <p:nvSpPr>
          <p:cNvPr id="24" name="AutoShape 9"/>
          <p:cNvSpPr/>
          <p:nvPr/>
        </p:nvSpPr>
        <p:spPr>
          <a:xfrm>
            <a:off x="4325215" y="4455945"/>
            <a:ext cx="129076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泵体</a:t>
            </a:r>
          </a:p>
        </p:txBody>
      </p:sp>
      <p:sp>
        <p:nvSpPr>
          <p:cNvPr id="29" name="AutoShape 9"/>
          <p:cNvSpPr/>
          <p:nvPr/>
        </p:nvSpPr>
        <p:spPr>
          <a:xfrm>
            <a:off x="9906066" y="4504063"/>
            <a:ext cx="129076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升降滑轮</a:t>
            </a:r>
          </a:p>
        </p:txBody>
      </p:sp>
      <p:sp>
        <p:nvSpPr>
          <p:cNvPr id="32" name="AutoShape 9"/>
          <p:cNvSpPr/>
          <p:nvPr/>
        </p:nvSpPr>
        <p:spPr>
          <a:xfrm>
            <a:off x="9913215" y="3595546"/>
            <a:ext cx="129076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环形滑轨</a:t>
            </a:r>
          </a:p>
        </p:txBody>
      </p:sp>
      <p:sp>
        <p:nvSpPr>
          <p:cNvPr id="33" name="AutoShape 9"/>
          <p:cNvSpPr/>
          <p:nvPr/>
        </p:nvSpPr>
        <p:spPr>
          <a:xfrm>
            <a:off x="4325215" y="3093292"/>
            <a:ext cx="129076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蓝宝石玻璃罩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3111795" y="4564912"/>
            <a:ext cx="1127052" cy="145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3196856" y="3347292"/>
            <a:ext cx="1020725" cy="351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9037674" y="3849546"/>
            <a:ext cx="765545" cy="360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8647814" y="4564912"/>
            <a:ext cx="1141228" cy="1931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473700" y="1168400"/>
            <a:ext cx="6112510" cy="51079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2032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创新特色</a:t>
            </a:r>
            <a:endParaRPr lang="en-US" sz="1100"/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1269999" y="1651000"/>
            <a:ext cx="3809999" cy="813078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4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超分辨率红外成像仪</a:t>
            </a: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242872" y="3187977"/>
            <a:ext cx="3837126" cy="799823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323455" y="1905000"/>
            <a:ext cx="4064000" cy="2286000"/>
          </a:xfrm>
          <a:prstGeom prst="roundRect">
            <a:avLst>
              <a:gd name="adj" fmla="val 5555"/>
            </a:avLst>
          </a:prstGeom>
          <a:noFill/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7323455" y="4318000"/>
            <a:ext cx="4064000" cy="1270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450455" y="4445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“向上生长，无限可能”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技术驱动创新，引领行业绿色变革</a:t>
            </a:r>
          </a:p>
        </p:txBody>
      </p:sp>
      <p:sp>
        <p:nvSpPr>
          <p:cNvPr id="17" name="AutoShape 7"/>
          <p:cNvSpPr/>
          <p:nvPr>
            <p:custDataLst>
              <p:tags r:id="rId5"/>
            </p:custDataLst>
          </p:nvPr>
        </p:nvSpPr>
        <p:spPr>
          <a:xfrm>
            <a:off x="1524000" y="3387139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宽温湿度域调控</a:t>
            </a:r>
          </a:p>
        </p:txBody>
      </p:sp>
      <p:sp>
        <p:nvSpPr>
          <p:cNvPr id="19" name="AutoShape 9"/>
          <p:cNvSpPr/>
          <p:nvPr>
            <p:custDataLst>
              <p:tags r:id="rId6"/>
            </p:custDataLst>
          </p:nvPr>
        </p:nvSpPr>
        <p:spPr>
          <a:xfrm>
            <a:off x="1242872" y="4757598"/>
            <a:ext cx="3837126" cy="799823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0" name="AutoShape 7"/>
          <p:cNvSpPr/>
          <p:nvPr>
            <p:custDataLst>
              <p:tags r:id="rId7"/>
            </p:custDataLst>
          </p:nvPr>
        </p:nvSpPr>
        <p:spPr>
          <a:xfrm>
            <a:off x="1397000" y="4967009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高度集成化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3048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预计应用前景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7700" y="1028700"/>
            <a:ext cx="35941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68300" indent="-368300" algn="l">
              <a:lnSpc>
                <a:spcPct val="125000"/>
              </a:lnSpc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29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应用领域展望</a:t>
            </a:r>
            <a:endParaRPr lang="en-US" sz="1100"/>
          </a:p>
        </p:txBody>
      </p:sp>
      <p:pic>
        <p:nvPicPr>
          <p:cNvPr id="12" name="图片 11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3" name="AutoShape 5"/>
          <p:cNvSpPr/>
          <p:nvPr>
            <p:custDataLst>
              <p:tags r:id="rId2"/>
            </p:custDataLst>
          </p:nvPr>
        </p:nvSpPr>
        <p:spPr>
          <a:xfrm>
            <a:off x="762000" y="2057400"/>
            <a:ext cx="5080000" cy="3556000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7"/>
          <p:cNvSpPr/>
          <p:nvPr>
            <p:custDataLst>
              <p:tags r:id="rId3"/>
            </p:custDataLst>
          </p:nvPr>
        </p:nvSpPr>
        <p:spPr>
          <a:xfrm>
            <a:off x="1524000" y="2260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科研领域应用</a:t>
            </a:r>
            <a:endParaRPr lang="en-US" sz="2000" b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8"/>
          <p:cNvSpPr/>
          <p:nvPr>
            <p:custDataLst>
              <p:tags r:id="rId4"/>
            </p:custDataLst>
          </p:nvPr>
        </p:nvSpPr>
        <p:spPr>
          <a:xfrm>
            <a:off x="1016000" y="28194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>
              <a:lnSpc>
                <a:spcPct val="117000"/>
              </a:lnSpc>
              <a:buSzTx/>
              <a:defRPr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高校、科研院所的相变材料研发、制冷技术优化及热质交换机理研究</a:t>
            </a:r>
            <a:r>
              <a:rPr lang="en-US" sz="1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457200" algn="l">
              <a:lnSpc>
                <a:spcPct val="117000"/>
              </a:lnSpc>
              <a:buSzTx/>
              <a:defRPr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填补蓄冷材料过冷结晶测试技术空白，推动蓄冷技术升级</a:t>
            </a:r>
            <a:r>
              <a:rPr lang="en-US" sz="1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9"/>
          <p:cNvSpPr/>
          <p:nvPr>
            <p:custDataLst>
              <p:tags r:id="rId5"/>
            </p:custDataLst>
          </p:nvPr>
        </p:nvSpPr>
        <p:spPr>
          <a:xfrm>
            <a:off x="6350000" y="2057400"/>
            <a:ext cx="5080000" cy="3556000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1"/>
          <p:cNvSpPr/>
          <p:nvPr>
            <p:custDataLst>
              <p:tags r:id="rId6"/>
            </p:custDataLst>
          </p:nvPr>
        </p:nvSpPr>
        <p:spPr>
          <a:xfrm>
            <a:off x="7112000" y="2260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工业领域应用</a:t>
            </a:r>
            <a:endParaRPr lang="en-US" sz="2000" b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utoShape 12"/>
          <p:cNvSpPr/>
          <p:nvPr>
            <p:custDataLst>
              <p:tags r:id="rId7"/>
            </p:custDataLst>
          </p:nvPr>
        </p:nvSpPr>
        <p:spPr>
          <a:xfrm>
            <a:off x="6604000" y="28194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3" algn="l">
              <a:lnSpc>
                <a:spcPct val="117000"/>
              </a:lnSpc>
              <a:buSzTx/>
              <a:buChar char="•"/>
              <a:defRPr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新能源电池高低温性能测试与电子元件环境适应性测试。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buChar char="•"/>
              <a:defRPr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医药试剂低温储存观测，保障产品质量与安全。</a:t>
            </a:r>
          </a:p>
          <a:p>
            <a:pPr algn="l">
              <a:lnSpc>
                <a:spcPct val="117000"/>
              </a:lnSpc>
              <a:buSzTx/>
              <a:buChar char="•"/>
              <a:defRPr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为企业优化产品质量、降低研发成本提供关键数据支撑。</a:t>
            </a:r>
          </a:p>
        </p:txBody>
      </p:sp>
      <p:sp>
        <p:nvSpPr>
          <p:cNvPr id="19" name="AutoShape 13"/>
          <p:cNvSpPr/>
          <p:nvPr/>
        </p:nvSpPr>
        <p:spPr>
          <a:xfrm>
            <a:off x="762000" y="59944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2311400"/>
            <a:ext cx="406400" cy="406400"/>
          </a:xfrm>
          <a:prstGeom prst="rect">
            <a:avLst/>
          </a:prstGeom>
        </p:spPr>
      </p:pic>
      <p:pic>
        <p:nvPicPr>
          <p:cNvPr id="2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23114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3048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 spc="30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预计应用前景</a:t>
            </a:r>
            <a:endParaRPr lang="en-US" sz="1100"/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r="368" b="-4159"/>
          <a:stretch>
            <a:fillRect/>
          </a:stretch>
        </p:blipFill>
        <p:spPr>
          <a:xfrm>
            <a:off x="9719310" y="248920"/>
            <a:ext cx="2198370" cy="652780"/>
          </a:xfrm>
          <a:prstGeom prst="rect">
            <a:avLst/>
          </a:prstGeom>
        </p:spPr>
      </p:pic>
      <p:sp>
        <p:nvSpPr>
          <p:cNvPr id="11" name="AutoShape 5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13" name="AutoShape 7"/>
          <p:cNvSpPr/>
          <p:nvPr>
            <p:custDataLst>
              <p:tags r:id="rId4"/>
            </p:custDataLst>
          </p:nvPr>
        </p:nvSpPr>
        <p:spPr>
          <a:xfrm>
            <a:off x="15240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民用领域应用</a:t>
            </a:r>
            <a:endParaRPr lang="en-US" sz="2000" b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9"/>
          <p:cNvSpPr/>
          <p:nvPr>
            <p:custDataLst>
              <p:tags r:id="rId5"/>
            </p:custDataLst>
          </p:nvPr>
        </p:nvSpPr>
        <p:spPr>
          <a:xfrm>
            <a:off x="1016000" y="24765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  <a:defRPr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液体过热</a:t>
            </a:r>
            <a:r>
              <a:rPr lang="en-US" sz="15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过冷状态下的相变、结晶过程研究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相变材料、制冷材料、隔热材料的研发与性能测试</a:t>
            </a:r>
            <a:endParaRPr lang="en-US" sz="1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食品工程中冷冻保鲜、结晶食品加工的工艺研究</a:t>
            </a:r>
            <a:endParaRPr lang="en-US" sz="1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工业领域中热质交换、冷凝结晶等过程的实验分析</a:t>
            </a:r>
          </a:p>
        </p:txBody>
      </p:sp>
      <p:sp>
        <p:nvSpPr>
          <p:cNvPr id="15" name="AutoShape 10"/>
          <p:cNvSpPr/>
          <p:nvPr>
            <p:custDataLst>
              <p:tags r:id="rId6"/>
            </p:custDataLst>
          </p:nvPr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7" name="AutoShape 12"/>
          <p:cNvSpPr/>
          <p:nvPr>
            <p:custDataLst>
              <p:tags r:id="rId8"/>
            </p:custDataLst>
          </p:nvPr>
        </p:nvSpPr>
        <p:spPr>
          <a:xfrm>
            <a:off x="71120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军用领域应用</a:t>
            </a:r>
            <a:endParaRPr lang="en-US" sz="2000" b="1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utoShape 14"/>
          <p:cNvSpPr/>
          <p:nvPr>
            <p:custDataLst>
              <p:tags r:id="rId9"/>
            </p:custDataLst>
          </p:nvPr>
        </p:nvSpPr>
        <p:spPr>
          <a:xfrm>
            <a:off x="6604000" y="24765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  <a:defRPr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导弹核心部件、雷达精密元件等极端条件原件的相变与热损耗观测</a:t>
            </a:r>
            <a:endParaRPr lang="en-US" sz="150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军用防护材料表面冰晶生长、结霜融霜的热场变化观测</a:t>
            </a: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航空航天器件在高空高压低温环境下的工作状态模拟与介质测试</a:t>
            </a: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军用通信、电子对抗等精密电子装备的热场变化观测分析</a:t>
            </a:r>
          </a:p>
          <a:p>
            <a:pPr marL="177800" indent="-177800" algn="l">
              <a:lnSpc>
                <a:spcPct val="108000"/>
              </a:lnSpc>
              <a:buClr>
                <a:srgbClr val="F5F5F5"/>
              </a:buClr>
              <a:buChar char="•"/>
            </a:pPr>
            <a:r>
              <a:rPr lang="en-US" sz="15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军用特种燃料的相变、成膜、结晶、热分解过程观测</a:t>
            </a:r>
          </a:p>
        </p:txBody>
      </p:sp>
      <p:sp>
        <p:nvSpPr>
          <p:cNvPr id="19" name="AutoShape 15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6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总结：本系统在民品研发与国防科技中均展现出极高的应用价值与潜力，为材料科学发展提供强力支撑。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 rot="10800000">
            <a:off x="0" y="901700"/>
            <a:ext cx="9118600" cy="10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55600" y="139700"/>
            <a:ext cx="6223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600" b="1" spc="300" dirty="0">
                <a:latin typeface="华文中宋" panose="02010600040101010101" charset="-122"/>
                <a:ea typeface="华文中宋" panose="02010600040101010101" charset="-122"/>
                <a:sym typeface="华文中宋" panose="02010600040101010101" charset="-122"/>
              </a:rPr>
              <a:t>发展方向与进展</a:t>
            </a:r>
            <a:endParaRPr lang="en-US" sz="1100" dirty="0"/>
          </a:p>
        </p:txBody>
      </p:sp>
      <p:sp>
        <p:nvSpPr>
          <p:cNvPr id="17" name="AutoShape 7"/>
          <p:cNvSpPr/>
          <p:nvPr>
            <p:custDataLst>
              <p:tags r:id="rId1"/>
            </p:custDataLst>
          </p:nvPr>
        </p:nvSpPr>
        <p:spPr>
          <a:xfrm>
            <a:off x="889000" y="1701801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发展方向：</a:t>
            </a:r>
            <a:r>
              <a:rPr lang="zh-CN" altLang="en-US" sz="28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拓展不同测试设备的适用（超声波探测装置）、极端环境的模拟（无菌环境、真空环境</a:t>
            </a:r>
            <a:r>
              <a:rPr lang="en-US" altLang="zh-CN" sz="28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)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800" b="1" i="0" u="none" strike="noStrike" dirty="0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8"/>
          <p:cNvSpPr/>
          <p:nvPr>
            <p:custDataLst>
              <p:tags r:id="rId2"/>
            </p:custDataLst>
          </p:nvPr>
        </p:nvSpPr>
        <p:spPr>
          <a:xfrm>
            <a:off x="1778000" y="1999016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1"/>
          <p:cNvSpPr/>
          <p:nvPr>
            <p:custDataLst>
              <p:tags r:id="rId3"/>
            </p:custDataLst>
          </p:nvPr>
        </p:nvSpPr>
        <p:spPr>
          <a:xfrm>
            <a:off x="7366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2000" b="1" dirty="0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AutoShape 12"/>
          <p:cNvSpPr/>
          <p:nvPr>
            <p:custDataLst>
              <p:tags r:id="rId4"/>
            </p:custDataLst>
          </p:nvPr>
        </p:nvSpPr>
        <p:spPr>
          <a:xfrm>
            <a:off x="7366000" y="2286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5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3"/>
          <p:cNvSpPr/>
          <p:nvPr>
            <p:custDataLst>
              <p:tags r:id="rId5"/>
            </p:custDataLst>
          </p:nvPr>
        </p:nvSpPr>
        <p:spPr>
          <a:xfrm>
            <a:off x="762000" y="2761015"/>
            <a:ext cx="5203794" cy="2814283"/>
          </a:xfrm>
          <a:prstGeom prst="roundRect">
            <a:avLst>
              <a:gd name="adj" fmla="val 714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5"/>
          <p:cNvSpPr/>
          <p:nvPr>
            <p:custDataLst>
              <p:tags r:id="rId6"/>
            </p:custDataLst>
          </p:nvPr>
        </p:nvSpPr>
        <p:spPr>
          <a:xfrm>
            <a:off x="1192074" y="295053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已完成工作</a:t>
            </a:r>
            <a:endParaRPr lang="en-US" sz="2400" b="1" dirty="0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AutoShape 16"/>
          <p:cNvSpPr/>
          <p:nvPr>
            <p:custDataLst>
              <p:tags r:id="rId7"/>
            </p:custDataLst>
          </p:nvPr>
        </p:nvSpPr>
        <p:spPr>
          <a:xfrm>
            <a:off x="1192074" y="3544808"/>
            <a:ext cx="4471879" cy="1821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SzTx/>
              <a:defRPr/>
            </a:pPr>
            <a:r>
              <a:rPr lang="zh-CN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测试舱体</a:t>
            </a:r>
            <a:endParaRPr lang="en-US" altLang="zh-CN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  <a:buSzTx/>
              <a:defRPr/>
            </a:pPr>
            <a:r>
              <a:rPr lang="zh-CN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测试成像模块</a:t>
            </a:r>
            <a:endParaRPr lang="en-US" altLang="zh-CN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  <a:buSzTx/>
              <a:defRPr/>
            </a:pPr>
            <a:r>
              <a:rPr lang="zh-CN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各功能的独立控制系统</a:t>
            </a:r>
            <a:endParaRPr lang="en-US" altLang="zh-CN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  <a:buSzTx/>
              <a:defRPr/>
            </a:pPr>
            <a:endParaRPr lang="en-US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7"/>
          <p:cNvSpPr/>
          <p:nvPr>
            <p:custDataLst>
              <p:tags r:id="rId8"/>
            </p:custDataLst>
          </p:nvPr>
        </p:nvSpPr>
        <p:spPr>
          <a:xfrm>
            <a:off x="6516703" y="2761016"/>
            <a:ext cx="5203793" cy="2814282"/>
          </a:xfrm>
          <a:prstGeom prst="roundRect">
            <a:avLst>
              <a:gd name="adj" fmla="val 714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9"/>
          <p:cNvSpPr/>
          <p:nvPr>
            <p:custDataLst>
              <p:tags r:id="rId9"/>
            </p:custDataLst>
          </p:nvPr>
        </p:nvSpPr>
        <p:spPr>
          <a:xfrm>
            <a:off x="7062926" y="2977287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16468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</a:t>
            </a:r>
            <a:endParaRPr lang="en-US" sz="2400" b="1" dirty="0">
              <a:solidFill>
                <a:srgbClr val="16468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20"/>
          <p:cNvSpPr/>
          <p:nvPr>
            <p:custDataLst>
              <p:tags r:id="rId10"/>
            </p:custDataLst>
          </p:nvPr>
        </p:nvSpPr>
        <p:spPr>
          <a:xfrm>
            <a:off x="7062926" y="3930649"/>
            <a:ext cx="46575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测试舱体与测试成像模块的组装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综合智慧控制程序</a:t>
            </a:r>
            <a:endParaRPr lang="en-US" altLang="zh-CN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2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实验验证并推广</a:t>
            </a:r>
            <a:endParaRPr lang="en-US" sz="24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21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6468D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52900" y="0"/>
            <a:ext cx="3886200" cy="6858000"/>
          </a:xfrm>
          <a:prstGeom prst="roundRect">
            <a:avLst>
              <a:gd name="adj" fmla="val 0"/>
            </a:avLst>
          </a:prstGeom>
          <a:solidFill>
            <a:srgbClr val="16468D"/>
          </a:solidFill>
          <a:ln w="12700" cap="flat" cmpd="sng">
            <a:solidFill>
              <a:srgbClr val="16468D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14400" y="838200"/>
            <a:ext cx="10375900" cy="518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algn="ctr" rotWithShape="0">
              <a:srgbClr val="000000">
                <a:alpha val="3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133600" y="1993900"/>
            <a:ext cx="7924800" cy="2882900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rgbClr val="16468D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5638800" y="4711700"/>
            <a:ext cx="914400" cy="584200"/>
          </a:xfrm>
          <a:prstGeom prst="triangle">
            <a:avLst>
              <a:gd name="adj" fmla="val 50000"/>
            </a:avLst>
          </a:prstGeom>
          <a:solidFill>
            <a:srgbClr val="16468D">
              <a:alpha val="100000"/>
            </a:srgbClr>
          </a:solidFill>
          <a:ln w="12700" cap="flat" cmpd="sng">
            <a:solidFill>
              <a:srgbClr val="16468D">
                <a:alpha val="100000"/>
              </a:srgbClr>
            </a:solidFill>
            <a:prstDash val="solid"/>
            <a:miter lim="10000000"/>
          </a:ln>
          <a:effectLst>
            <a:outerShdw blurRad="63500" dist="635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844800" y="2870200"/>
            <a:ext cx="67183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203864"/>
                </a:solidFill>
                <a:effectLst>
                  <a:outerShdw blurRad="38100" dist="38100" dir="2700000" algn="tl" rotWithShape="0">
                    <a:srgbClr val="C0C0C0">
                      <a:alpha val="100000"/>
                    </a:srgbClr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感谢聆听-敬请指导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844800" y="3937000"/>
            <a:ext cx="6718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</a:t>
            </a:r>
            <a:r>
              <a:rPr lang="zh-CN" altLang="en-US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陈天树</a:t>
            </a:r>
            <a:r>
              <a:rPr lang="en-US" altLang="zh-CN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李一晨</a:t>
            </a:r>
            <a:r>
              <a:rPr lang="en-US" altLang="zh-CN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zh-CN" altLang="en-US" sz="2000" b="0" i="0" u="none" strike="noStrike">
                <a:solidFill>
                  <a:srgbClr val="203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王刚</a:t>
            </a:r>
          </a:p>
        </p:txBody>
      </p:sp>
      <p:pic>
        <p:nvPicPr>
          <p:cNvPr id="10" name="图片 9" descr="1宫墙红——校徽和校名（1907）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r="368" b="-4159"/>
          <a:stretch>
            <a:fillRect/>
          </a:stretch>
        </p:blipFill>
        <p:spPr>
          <a:xfrm>
            <a:off x="1083945" y="1071880"/>
            <a:ext cx="2198370" cy="6527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60,&quot;top&quot;:154.3,&quot;width&quot;:4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61.85,&quot;top&quot;:171.75,&quot;width&quot;:84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4708661417316,&quot;left&quot;:626.4853543307087,&quot;top&quot;:107.31771653543308,&quot;width&quot;:485.6970866141731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6,&quot;left&quot;:202.8,&quot;top&quot;:124.4,&quot;width&quot;:707.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6,&quot;left&quot;:202.8,&quot;top&quot;:124.4,&quot;width&quot;:677.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,&quot;left&quot;:60,&quot;top&quot;:120,&quot;width&quot;:84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42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,&quot;left&quot;:60,&quot;top&quot;:130,&quot;width&quot;:84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3,&quot;left&quot;:-215.95,&quot;top&quot;:77.7,&quot;width&quot;:1115.9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60,&quot;top&quot;:130,&quot;width&quot;:84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1709</Words>
  <Application>Microsoft Office PowerPoint</Application>
  <PresentationFormat>宽屏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Kaiti SC</vt:lpstr>
      <vt:lpstr>Noto Sans SC</vt:lpstr>
      <vt:lpstr>等线</vt:lpstr>
      <vt:lpstr>华文中宋</vt:lpstr>
      <vt:lpstr>宋体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1 1</cp:lastModifiedBy>
  <cp:revision>9</cp:revision>
  <dcterms:created xsi:type="dcterms:W3CDTF">2026-03-14T16:41:32Z</dcterms:created>
  <dcterms:modified xsi:type="dcterms:W3CDTF">2026-03-15T07:01:57Z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5FC6245C86124B369C0767DDCF36BC84_13</vt:lpwstr>
  </property>
</Properties>
</file>